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71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3" r:id="rId18"/>
    <p:sldId id="274" r:id="rId19"/>
    <p:sldId id="275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989330" y="1855470"/>
            <a:ext cx="10031730" cy="175323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en-US" sz="5400">
                <a:latin typeface="Times New Roman" panose="02020603050405020304" charset="0"/>
                <a:cs typeface="Times New Roman" panose="02020603050405020304" charset="0"/>
              </a:rPr>
              <a:t>Interactive Credit Approval Prediction and Explainability</a:t>
            </a:r>
            <a:endParaRPr lang="en-US" altLang="en-US" sz="5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993630" y="5969000"/>
            <a:ext cx="2055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By-</a:t>
            </a:r>
            <a:endParaRPr lang="en-US"/>
          </a:p>
          <a:p>
            <a:r>
              <a:rPr lang="en-US"/>
              <a:t>Vansika Jhawar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699635" y="457200"/>
            <a:ext cx="2427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24230" y="1447165"/>
            <a:ext cx="1072388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growth of digital financial services has increased the demand for automated credit assessment systems.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Traditional credit scoring models often provide a binary decision (approved/rejected) without transparency, leaving applicants uncertain about the factors influencing their approval.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With the rise of Explainable AI (XAI), it is now possible to build models that not only predict credit approval but also provide interpretable explanations for their decisions.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This project leverages a Random Forest classifier along with feature scaling and label encoding to build a predictive credit approval model.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Using XAI techniques like LIME, the system allows users to interactively explore “what-if” scenarios, showing how changes in features such as income, employment years, education, or marital status impact their approval probability.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This approach promotes transparency, helps users understand the decision-making process, and acts as a personalized credit advisory tool.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210050" y="627380"/>
            <a:ext cx="33432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92150" y="1774190"/>
            <a:ext cx="10604500" cy="37846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Credit scoring models are typically opaque, offering limited insight into why a particular loan or credit application is approved or rejected. Users are often left without guidance on how to improve their approval chances.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The challenge is to design an interactive, explainable credit approval system that: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Predicts credit approval probability accurately using machine learning.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Explains the contribution of each feature to the decision using SHAP and LIME.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Allows users to test “what-if” scenarios to see how modifying inputs affects their approval chances.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None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By addressing this problem, the project empowers applicants with actionable insights and builds trust in automated credit decision systems.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730625" y="393065"/>
            <a:ext cx="45148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Dataset and Preprocessing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76605" y="1252220"/>
            <a:ext cx="10638155" cy="50158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Dataset Overview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Includes demographic, employment, and financial attributes of applicants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Target variable: Credit Card Approval (Approved / Rejected)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Data Cleaning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Renamed and standardized column names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Removed redundant / null columns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Handled missing values appropriately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Exploratory Data Analysis (EDA)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Visualized categorical and numerical distributions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Tested hypotheses about age, employment, and approval trends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Outlier Treatment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Applied IQR method to handle extreme values in income, age, employment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08610" y="978535"/>
            <a:ext cx="4286250" cy="56311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 Engineering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Converted raw columns: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Birthday_count → Age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Employed_days → Employed_Years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Created binned features (Age groups: Young / Adult / Senior)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Encoded categorical variables with LabelEncoder</a:t>
            </a:r>
            <a:endParaRPr sz="20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buFont typeface="Arial" panose="020B0604020202020204"/>
              <a:buChar char="•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Feature Selection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Used Chi-Square Test, Z-Test, and Recursive Feature Elimination (RFE)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Final model features: Employed_Years, Annual_income, Age, Type_Income, Education, Marital_status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4225" y="180975"/>
            <a:ext cx="7446010" cy="654431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94310" y="180975"/>
            <a:ext cx="45148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Dataset and Preprocessing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0540" y="763905"/>
            <a:ext cx="9010650" cy="598741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344035" y="180975"/>
            <a:ext cx="3503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Insights from Data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7370" y="3731260"/>
            <a:ext cx="8897620" cy="29260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835025"/>
            <a:ext cx="8799830" cy="289623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4344035" y="180975"/>
            <a:ext cx="3503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Insights from Data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63725" y="374650"/>
            <a:ext cx="810387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Model Training &amp; Results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: </a:t>
            </a: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Logistic Regression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7990" y="1213485"/>
            <a:ext cx="3432810" cy="2893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0" y="4407535"/>
            <a:ext cx="5943600" cy="19621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535" y="1213485"/>
            <a:ext cx="3658870" cy="28968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 Box 6"/>
          <p:cNvSpPr txBox="1"/>
          <p:nvPr/>
        </p:nvSpPr>
        <p:spPr>
          <a:xfrm>
            <a:off x="680720" y="1213485"/>
            <a:ext cx="3056255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Establishes a linear relationship between applicant features and approval probability.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Fast and interpretable baseline for credit risk classification.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Performs well when variables are linearly separable but less effective for complex patterns.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63725" y="374650"/>
            <a:ext cx="810387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Model Training &amp; Results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: Decision Tree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7990" y="1213485"/>
            <a:ext cx="3432810" cy="28936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300" y="4414520"/>
            <a:ext cx="5905500" cy="1971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715" y="1223010"/>
            <a:ext cx="3642360" cy="28841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Box 8"/>
          <p:cNvSpPr txBox="1"/>
          <p:nvPr/>
        </p:nvSpPr>
        <p:spPr>
          <a:xfrm>
            <a:off x="504825" y="1617980"/>
            <a:ext cx="340741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Splits data into approval/rejection rules based on thresholds (e.g., income, age).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Easy to interpret visually — supports clear decision-making.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May overfit training data if not pruned or regularized.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63725" y="374650"/>
            <a:ext cx="937069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Model Training &amp; Results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: </a:t>
            </a: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Random Forest Classifier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7200" y="1238250"/>
            <a:ext cx="3403600" cy="28689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50" y="4371975"/>
            <a:ext cx="5924550" cy="2019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3220" y="1229995"/>
            <a:ext cx="3634105" cy="28771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Box 8"/>
          <p:cNvSpPr txBox="1"/>
          <p:nvPr/>
        </p:nvSpPr>
        <p:spPr>
          <a:xfrm>
            <a:off x="457200" y="1435100"/>
            <a:ext cx="3237865" cy="449262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sz="2200">
                <a:latin typeface="Times New Roman" panose="02020603050405020304" charset="0"/>
                <a:cs typeface="Times New Roman" panose="02020603050405020304" charset="0"/>
              </a:rPr>
              <a:t>Combines multiple trees to reduce variance and improve stability.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>
                <a:latin typeface="Times New Roman" panose="02020603050405020304" charset="0"/>
                <a:cs typeface="Times New Roman" panose="02020603050405020304" charset="0"/>
              </a:rPr>
              <a:t>Handles both categorical and numerical variables efficiently.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200">
                <a:latin typeface="Times New Roman" panose="02020603050405020304" charset="0"/>
                <a:cs typeface="Times New Roman" panose="02020603050405020304" charset="0"/>
              </a:rPr>
              <a:t>Robust to outliers and overfitting; provides feature importance ranking.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63725" y="374650"/>
            <a:ext cx="937069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Model Training &amp; Results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: </a:t>
            </a: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Support Vector Machines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3710" y="1251585"/>
            <a:ext cx="3387090" cy="28555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25" y="4404995"/>
            <a:ext cx="5934075" cy="19526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210" y="1266190"/>
            <a:ext cx="3587750" cy="28409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Box 8"/>
          <p:cNvSpPr txBox="1"/>
          <p:nvPr/>
        </p:nvSpPr>
        <p:spPr>
          <a:xfrm>
            <a:off x="658495" y="1510030"/>
            <a:ext cx="3077845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sz="2200">
                <a:latin typeface="Times New Roman" panose="02020603050405020304" charset="0"/>
                <a:cs typeface="Times New Roman" panose="02020603050405020304" charset="0"/>
              </a:rPr>
              <a:t>Finds the optimal hyperplane separating approved vs. rejected cases.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200">
                <a:latin typeface="Times New Roman" panose="02020603050405020304" charset="0"/>
                <a:cs typeface="Times New Roman" panose="02020603050405020304" charset="0"/>
              </a:rPr>
              <a:t>Works well in high-dimensional data spaces.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200">
                <a:latin typeface="Times New Roman" panose="02020603050405020304" charset="0"/>
                <a:cs typeface="Times New Roman" panose="02020603050405020304" charset="0"/>
              </a:rPr>
              <a:t>Can be slower on large datasets and sensitive to parameter tuning.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63725" y="374650"/>
            <a:ext cx="937069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Model Training &amp; Results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: </a:t>
            </a: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K-Nearest Neighbors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110" y="1273810"/>
            <a:ext cx="3361690" cy="28333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100" y="4422775"/>
            <a:ext cx="5981700" cy="19716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605" y="1288415"/>
            <a:ext cx="3559810" cy="28187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Box 8"/>
          <p:cNvSpPr txBox="1"/>
          <p:nvPr/>
        </p:nvSpPr>
        <p:spPr>
          <a:xfrm>
            <a:off x="915035" y="1584325"/>
            <a:ext cx="3089275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sz="2200">
                <a:latin typeface="Times New Roman" panose="02020603050405020304" charset="0"/>
                <a:cs typeface="Times New Roman" panose="02020603050405020304" charset="0"/>
              </a:rPr>
              <a:t>Classifies applicants based on similarity to their nearest neighbors.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200">
                <a:latin typeface="Times New Roman" panose="02020603050405020304" charset="0"/>
                <a:cs typeface="Times New Roman" panose="02020603050405020304" charset="0"/>
              </a:rPr>
              <a:t>Simple, non-parametric, and easy to understand.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200">
                <a:latin typeface="Times New Roman" panose="02020603050405020304" charset="0"/>
                <a:cs typeface="Times New Roman" panose="02020603050405020304" charset="0"/>
              </a:rPr>
              <a:t>Performance drops with high dimensionality and large datasets.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63725" y="374650"/>
            <a:ext cx="937069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Model Training &amp; Results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 : </a:t>
            </a: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Gradient Boosting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3715" y="1286510"/>
            <a:ext cx="3347085" cy="28206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0" y="4435475"/>
            <a:ext cx="5943600" cy="20288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230" y="1309370"/>
            <a:ext cx="3533140" cy="27978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Box 8"/>
          <p:cNvSpPr txBox="1"/>
          <p:nvPr/>
        </p:nvSpPr>
        <p:spPr>
          <a:xfrm>
            <a:off x="798195" y="1563370"/>
            <a:ext cx="3361690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sz="2200">
                <a:latin typeface="Times New Roman" panose="02020603050405020304" charset="0"/>
                <a:cs typeface="Times New Roman" panose="02020603050405020304" charset="0"/>
              </a:rPr>
              <a:t>Sequentially builds strong learners to minimize prediction errors.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200">
                <a:latin typeface="Times New Roman" panose="02020603050405020304" charset="0"/>
                <a:cs typeface="Times New Roman" panose="02020603050405020304" charset="0"/>
              </a:rPr>
              <a:t>Known for high accuracy and efficiency in structured datasets.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2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200">
                <a:latin typeface="Times New Roman" panose="02020603050405020304" charset="0"/>
                <a:cs typeface="Times New Roman" panose="02020603050405020304" charset="0"/>
              </a:rPr>
              <a:t>Requires careful tuning to avoid overfitting and high computational cost.</a:t>
            </a:r>
            <a:endParaRPr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13105"/>
            <a:ext cx="12192000" cy="257683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323080" y="129540"/>
            <a:ext cx="311023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Model </a:t>
            </a:r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Selection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91770" y="3493135"/>
            <a:ext cx="11999595" cy="32251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b="0" i="0">
                <a:solidFill>
                  <a:srgbClr val="1F1F1F"/>
                </a:solidFill>
                <a:latin typeface="Times New Roman" panose="02020603050405020304" charset="0"/>
                <a:ea typeface="Google Sans Text"/>
                <a:cs typeface="Times New Roman" panose="02020603050405020304" charset="0"/>
              </a:rPr>
              <a:t>Testing Accuracy:</a:t>
            </a:r>
            <a:endParaRPr b="0" i="0">
              <a:solidFill>
                <a:srgbClr val="1F1F1F"/>
              </a:solidFill>
              <a:latin typeface="Times New Roman" panose="02020603050405020304" charset="0"/>
              <a:ea typeface="Google Sans Text"/>
              <a:cs typeface="Times New Roman" panose="02020603050405020304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/>
              <a:buChar char="•"/>
            </a:pPr>
            <a:r>
              <a:rPr b="0" i="0">
                <a:solidFill>
                  <a:srgbClr val="1F1F1F"/>
                </a:solidFill>
                <a:latin typeface="Times New Roman" panose="02020603050405020304" charset="0"/>
                <a:ea typeface="Google Sans Text"/>
                <a:cs typeface="Times New Roman" panose="02020603050405020304" charset="0"/>
              </a:rPr>
              <a:t>Random Forest: It has the highest testing accuracy after hypertuning (0.90). This suggests that, on the test set, it performs well in correctly predicting credit card approval.</a:t>
            </a:r>
            <a:endParaRPr b="0" i="0">
              <a:solidFill>
                <a:srgbClr val="1F1F1F"/>
              </a:solidFill>
              <a:latin typeface="Times New Roman" panose="02020603050405020304" charset="0"/>
              <a:ea typeface="Google Sans Text"/>
              <a:cs typeface="Times New Roman" panose="02020603050405020304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b="0" i="0">
                <a:solidFill>
                  <a:srgbClr val="1F1F1F"/>
                </a:solidFill>
                <a:latin typeface="Times New Roman" panose="02020603050405020304" charset="0"/>
                <a:ea typeface="Google Sans Text"/>
                <a:cs typeface="Times New Roman" panose="02020603050405020304" charset="0"/>
              </a:rPr>
              <a:t>Mean Cross-Validation Accuracy:</a:t>
            </a:r>
            <a:endParaRPr b="0" i="0">
              <a:solidFill>
                <a:srgbClr val="1F1F1F"/>
              </a:solidFill>
              <a:latin typeface="Times New Roman" panose="02020603050405020304" charset="0"/>
              <a:ea typeface="Google Sans Text"/>
              <a:cs typeface="Times New Roman" panose="02020603050405020304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/>
              <a:buChar char="•"/>
            </a:pPr>
            <a:r>
              <a:rPr b="0" i="0">
                <a:solidFill>
                  <a:srgbClr val="1F1F1F"/>
                </a:solidFill>
                <a:latin typeface="Times New Roman" panose="02020603050405020304" charset="0"/>
                <a:ea typeface="Google Sans Text"/>
                <a:cs typeface="Times New Roman" panose="02020603050405020304" charset="0"/>
              </a:rPr>
              <a:t>Random Forest: It again shows the highest mean cross-validation accuracy (0.93). This indicates consistent and robust performance across different subsets of the training data.</a:t>
            </a:r>
            <a:endParaRPr b="0" i="0">
              <a:solidFill>
                <a:srgbClr val="1F1F1F"/>
              </a:solidFill>
              <a:latin typeface="Times New Roman" panose="02020603050405020304" charset="0"/>
              <a:ea typeface="Google Sans Text"/>
              <a:cs typeface="Times New Roman" panose="02020603050405020304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</a:pPr>
            <a:r>
              <a:rPr b="0" i="0">
                <a:solidFill>
                  <a:srgbClr val="1F1F1F"/>
                </a:solidFill>
                <a:latin typeface="Times New Roman" panose="02020603050405020304" charset="0"/>
                <a:ea typeface="Google Sans Text"/>
                <a:cs typeface="Times New Roman" panose="02020603050405020304" charset="0"/>
              </a:rPr>
              <a:t>AUC (Area Under the ROC Curve):</a:t>
            </a:r>
            <a:endParaRPr b="0" i="0">
              <a:solidFill>
                <a:srgbClr val="1F1F1F"/>
              </a:solidFill>
              <a:latin typeface="Times New Roman" panose="02020603050405020304" charset="0"/>
              <a:ea typeface="Google Sans Text"/>
              <a:cs typeface="Times New Roman" panose="02020603050405020304" charset="0"/>
            </a:endParaRPr>
          </a:p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/>
              <a:buChar char="•"/>
            </a:pPr>
            <a:r>
              <a:rPr b="0" i="0">
                <a:solidFill>
                  <a:srgbClr val="1F1F1F"/>
                </a:solidFill>
                <a:latin typeface="Times New Roman" panose="02020603050405020304" charset="0"/>
                <a:ea typeface="Google Sans Text"/>
                <a:cs typeface="Times New Roman" panose="02020603050405020304" charset="0"/>
              </a:rPr>
              <a:t>Random Forest and Gradient Boosting: Both have the highest AUC values (0.74), indicating good discrimination ability between positive and negative classes.</a:t>
            </a:r>
            <a:endParaRPr b="0" i="0">
              <a:solidFill>
                <a:srgbClr val="1F1F1F"/>
              </a:solidFill>
              <a:latin typeface="Times New Roman" panose="02020603050405020304" charset="0"/>
              <a:ea typeface="Google Sans Text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163060" y="352425"/>
            <a:ext cx="386588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Explainabile AI (XAI)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56565" y="935990"/>
            <a:ext cx="7346315" cy="224536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Global Explainability — SHAP: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Shows overall feature impact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Age, Employment years, and Income have strongest influence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Local Explainability — LIME: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Explains why an individual prediction was made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Helps identify rejection reasons for specific applicants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7585" y="889000"/>
            <a:ext cx="3960495" cy="56711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925" y="3366770"/>
            <a:ext cx="4429760" cy="31934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71220" y="406400"/>
            <a:ext cx="2540000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Streamlit App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03860" y="1245870"/>
            <a:ext cx="3872230" cy="50158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App Features: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Interactive input sliders for user profile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Instant prediction with confidence gauge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“What-If” feature — change income or employment to see new outcome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LIME visualization tab for explanation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Tech Stack: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Streamlit | Scikit-learn | LIME | Plotly | Joblib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Screenshot 2025-11-11 0148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955" y="236220"/>
            <a:ext cx="7567295" cy="30321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Screenshot 2025-11-11 0149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55" y="3438525"/>
            <a:ext cx="7567295" cy="33108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508635" y="1314450"/>
          <a:ext cx="11260455" cy="4919980"/>
        </p:xfrm>
        <a:graphic>
          <a:graphicData uri="http://schemas.openxmlformats.org/drawingml/2006/table">
            <a:tbl>
              <a:tblPr/>
              <a:tblGrid>
                <a:gridCol w="2503170"/>
                <a:gridCol w="4170680"/>
                <a:gridCol w="4586605"/>
              </a:tblGrid>
              <a:tr h="305435">
                <a:tc>
                  <a:txBody>
                    <a:bodyPr/>
                    <a:p>
                      <a:pPr algn="ctr"/>
                      <a:r>
                        <a:rPr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Impact Area</a:t>
                      </a:r>
                      <a:endParaRPr sz="2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Business Benefit</a:t>
                      </a:r>
                      <a:endParaRPr sz="2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Explanation / Example</a:t>
                      </a:r>
                      <a:endParaRPr sz="20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025525"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Risk Reduction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Flags high-risk applicants before approval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Identifies applicants with unstable income or low employment years, reducing loan default rate by ~15%.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68985"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Transparency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LIME-based explanations for loan officers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Enables compliance-friendly decision logs that justify every approval or rejection.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025525"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Operational Efficiency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Cuts manual verification by ~40%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Automates document-based credit scoring, accelerating decision time from hours to minutes.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024890"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Customer Insights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Personalized offers by applicant segments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Segments customers based on creditworthiness for targeted products (e.g., premium cards, EMI options).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69620"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Regulatory Compliance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Auditable model reasoning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SHAP and LIME outputs ensure model fairness and traceability for financial audits.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969010" y="416560"/>
            <a:ext cx="1040320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R</a:t>
            </a:r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eal-World Business Impact of Credit Card Approval Model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533525" y="1755775"/>
            <a:ext cx="8859520" cy="347662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Accurate Predictions: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The Random Forest model achieved 91% accuracy and 0.74 AUC, demonstrating robust performance for credit approval tasks.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Explainable AI Integration: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Using LIME and SHAP, the model provides both global and local interpretability — allowing credit officers to understand why a decision was made.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User-Centric Deployment: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The Streamlit app enables real-time predictions with explainability visualizations, making it suitable for integration into loan processing systems.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153660" y="509905"/>
            <a:ext cx="22472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28650" y="1755775"/>
            <a:ext cx="10871835" cy="439991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buFont typeface="Arial" panose="020B0604020202020204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Bias Detection &amp; Fairness Auditing : Integrate fairness metrics to detect bias by gender, marital status, or income level.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Data Enrichment : Incorporate external sources (e.g., credit bureau, transaction history) to enhance prediction reliability.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Secure Deployment : Migrate from Streamlit to a full-stack environment using Flask/Django with user authentication and role-based access.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Model Upgrades : Experiment with Hybrid LSTM + Random Forest or AutoML pipelines for continuous model improvement.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Production-Ready Scaling : Deploy the pipeline on cloud platforms (AWS/GCP) with API-based scoring endpoints.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988435" y="701675"/>
            <a:ext cx="3908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Future Enchancements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989330" y="1855470"/>
            <a:ext cx="10031730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en-US" sz="5400"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 altLang="en-US" sz="5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993630" y="5969000"/>
            <a:ext cx="2055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By-</a:t>
            </a:r>
            <a:endParaRPr lang="en-US"/>
          </a:p>
          <a:p>
            <a:r>
              <a:rPr lang="en-US"/>
              <a:t>Vansika Jhawar 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6*387"/>
  <p:tag name="TABLE_ENDDRAG_RECT" val="40*112*886*38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7322</Words>
  <Application>WPS Presentation</Application>
  <PresentationFormat>Widescreen</PresentationFormat>
  <Paragraphs>211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Times New Roman</vt:lpstr>
      <vt:lpstr>Arial</vt:lpstr>
      <vt:lpstr>Calibri</vt:lpstr>
      <vt:lpstr>Microsoft YaHei</vt:lpstr>
      <vt:lpstr>Arial Unicode MS</vt:lpstr>
      <vt:lpstr>Calibri Light</vt:lpstr>
      <vt:lpstr>Google Sans Text</vt:lpstr>
      <vt:lpstr>AMGDT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KIIT</dc:creator>
  <cp:lastModifiedBy>Vansika Jhawar</cp:lastModifiedBy>
  <cp:revision>7</cp:revision>
  <dcterms:created xsi:type="dcterms:W3CDTF">2025-07-23T00:59:00Z</dcterms:created>
  <dcterms:modified xsi:type="dcterms:W3CDTF">2025-11-12T07:24:32Z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9423FEE292EF455B80949B420537628D_11</vt:lpwstr>
  </property>
  <property fmtid="{D5CDD505-2E9C-101B-9397-08002B2CF9AE}" pid="3" name="KSOProductBuildVer">
    <vt:lpwstr>1033-12.2.0.23155</vt:lpwstr>
  </property>
</Properties>
</file>